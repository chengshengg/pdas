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EC985C-2849-4444-8767-82002F317E03}" v="23" dt="2026-05-24T17:23:33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B054D-BC18-257C-0A41-11E9B6B21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E1F31F-DE81-ECF0-5BDF-306E394D8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16D44-CD81-A8C1-D20B-B5657D5C0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FEAA-6E32-466B-80B7-AF814AD1C45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8BFE8-18B4-8A0C-5331-F9AA1C27A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BA03-E716-3AB4-7D16-10CB7A69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D017-47C3-4D8D-851B-A8CF49532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4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A57B-0588-9C92-CC23-5A1072FA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AC595-DA78-6F12-D6EC-4D03702BC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848B5-8035-487C-538E-723A4068A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FEAA-6E32-466B-80B7-AF814AD1C45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AA8E5-53C8-76CB-C4CD-D01118467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365E6-DBE5-3DE3-0207-87E12512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D017-47C3-4D8D-851B-A8CF49532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9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87CE-BBA1-F458-335D-10172CF2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159A7-C92B-04D3-0B95-01CA100A9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F0C16-2104-9228-1020-1CDC9AF72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FEAA-6E32-466B-80B7-AF814AD1C45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0EBF9-4316-3241-86C8-8AB33625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EF769-EA67-30AE-D585-C7F359307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D017-47C3-4D8D-851B-A8CF49532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CB383-7EE9-E5EA-5ED0-3F056917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0B4F6-A6E5-B278-187A-759392FB7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7AC99-0797-5709-B7A9-E5AB69A18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F37C9-C06A-7746-B411-0F15A752A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FEAA-6E32-466B-80B7-AF814AD1C45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EF50C-09E0-A2F1-7CAA-7BA32F756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8E312-48EF-89AF-CE7C-5AA9E54D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D017-47C3-4D8D-851B-A8CF49532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6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0AE39-54C0-47E1-B4B9-A6923A26F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7A791-9E60-C275-4B56-487626021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A47CDD-CEC8-8D93-B849-AE6D1E18A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11D089-C563-571C-5F94-A1E512545C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984E49-A9AF-DB98-3504-3570C7ABC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6A1F3F-241F-401B-ADBE-F111D3260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FEAA-6E32-466B-80B7-AF814AD1C45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8FA54-D025-0CC8-1CC7-00B431FC9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9B834E-FA9D-B790-2365-6394454C9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D017-47C3-4D8D-851B-A8CF49532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14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F562-9449-F8BE-8BD7-C8013CB18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ABBE05-63AE-C3E8-A82A-33F5789D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FEAA-6E32-466B-80B7-AF814AD1C45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8CC7B8-01F4-A6FA-D1B5-B9735891B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D82B7-CEE1-F8D4-9CF8-9192D4E0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D017-47C3-4D8D-851B-A8CF49532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52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B01895-8822-6039-2FF6-BB033156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FEAA-6E32-466B-80B7-AF814AD1C45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CC854F-E50D-6039-F958-1180ADBF5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7DA2B-1450-F3B9-46DF-65AE5D348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D017-47C3-4D8D-851B-A8CF49532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5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FA9B0-4B99-C38F-1D59-7346610E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7AC1C-9732-789A-F159-E56EF44BE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E0727-FE61-7CC4-D09D-FDDB55AA6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2FCFB-6F5E-1679-14C0-D3727F598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FEAA-6E32-466B-80B7-AF814AD1C45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16539-4F0F-458B-79D5-773A1906A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4DD56-0825-53FD-355F-07E0CF9E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D017-47C3-4D8D-851B-A8CF49532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0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1AFF5-B423-657E-4C3C-3437569CA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2EB50D-2092-2247-4CF5-088C433517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C9497-D016-50EA-A493-4C2E5863E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B383F-BD92-1D92-1290-DEA2210A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FEAA-6E32-466B-80B7-AF814AD1C45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736A1-0D93-9B08-8F8D-197794120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065F8-9ED6-D6F1-52C6-FE173BBC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D017-47C3-4D8D-851B-A8CF49532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09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FA41D-4395-53A4-1C60-3637EAE14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1FBF4-C665-4D83-B35F-EAF5F360A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3D470-F666-C90D-8CFB-7114E1083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FEAA-6E32-466B-80B7-AF814AD1C45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019E0-A20B-4C09-ED2D-3DC4C968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4E471-2BEB-77B6-94F1-EF1918323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D017-47C3-4D8D-851B-A8CF49532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13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15879E-043A-3A6C-5FC8-FC489563A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E4A7A-01E4-BCC3-E113-88525B5A8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3154D-E1C6-F2A1-BC09-52637C08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FEAA-6E32-466B-80B7-AF814AD1C45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65A59-D407-2B0A-F9F1-A02DA755B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1F2E9-7DBB-5477-F133-6AFA5865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D017-47C3-4D8D-851B-A8CF49532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29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3F653B-89D7-5D2E-E0D5-D8070CD4A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3AF0B-F6FB-4963-090F-D0B55D6F4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60DBE-7D91-AFB3-374E-1971918CB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BFEAA-6E32-466B-80B7-AF814AD1C45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D3C40-BCCE-1AAD-E3FB-8F6C66840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E1CFD-AC72-DA88-87A5-9F06B4B3F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CD017-47C3-4D8D-851B-A8CF49532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78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7431-6158-7386-0691-095E4B0BB7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ST1510 Programming for Data Analytics CA1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AA34C6-4947-4942-660D-E630FC9FC3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Name: Kong Cheng Sheng</a:t>
            </a:r>
          </a:p>
          <a:p>
            <a:r>
              <a:rPr lang="en-US" dirty="0"/>
              <a:t>Research Question: How do yearly salaries vary based on experience level, work type, and location?</a:t>
            </a:r>
          </a:p>
        </p:txBody>
      </p:sp>
    </p:spTree>
    <p:extLst>
      <p:ext uri="{BB962C8B-B14F-4D97-AF65-F5344CB8AC3E}">
        <p14:creationId xmlns:p14="http://schemas.microsoft.com/office/powerpoint/2010/main" val="284629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6B31B-0922-EFDE-40E9-D7966214B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75506-6CEC-F4F1-0F51-0D7A0D270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Analyzed job posting datasets</a:t>
            </a:r>
          </a:p>
          <a:p>
            <a:r>
              <a:rPr lang="en-US" dirty="0"/>
              <a:t>Investigated salary trends</a:t>
            </a:r>
          </a:p>
          <a:p>
            <a:r>
              <a:rPr lang="en-US" dirty="0"/>
              <a:t>Compared salaries across</a:t>
            </a:r>
          </a:p>
          <a:p>
            <a:pPr lvl="1"/>
            <a:r>
              <a:rPr lang="en-US" dirty="0"/>
              <a:t>Experienced levels</a:t>
            </a:r>
          </a:p>
          <a:p>
            <a:pPr lvl="1"/>
            <a:r>
              <a:rPr lang="en-US" dirty="0"/>
              <a:t>Work types</a:t>
            </a:r>
          </a:p>
          <a:p>
            <a:pPr lvl="1"/>
            <a:r>
              <a:rPr lang="en-US" dirty="0"/>
              <a:t>Locations</a:t>
            </a:r>
          </a:p>
        </p:txBody>
      </p:sp>
    </p:spTree>
    <p:extLst>
      <p:ext uri="{BB962C8B-B14F-4D97-AF65-F5344CB8AC3E}">
        <p14:creationId xmlns:p14="http://schemas.microsoft.com/office/powerpoint/2010/main" val="2978336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F6B6C-BD51-50ED-D43B-890BE789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Analysis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C0807-3FD9-973E-D115-DAFED43C7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Loaded and explored datasets</a:t>
            </a:r>
            <a:br>
              <a:rPr lang="en-US" dirty="0"/>
            </a:br>
            <a:r>
              <a:rPr lang="en-US" dirty="0"/>
              <a:t>2. Removed irrelevant columns</a:t>
            </a:r>
            <a:br>
              <a:rPr lang="en-US" dirty="0"/>
            </a:br>
            <a:r>
              <a:rPr lang="en-US" dirty="0"/>
              <a:t>3. Merged datasets using </a:t>
            </a:r>
            <a:r>
              <a:rPr lang="en-US" dirty="0" err="1"/>
              <a:t>job_id</a:t>
            </a:r>
            <a:br>
              <a:rPr lang="en-US" dirty="0"/>
            </a:br>
            <a:r>
              <a:rPr lang="en-US" dirty="0"/>
              <a:t>4. Cleaned salary data</a:t>
            </a:r>
            <a:br>
              <a:rPr lang="en-US" dirty="0"/>
            </a:br>
            <a:r>
              <a:rPr lang="en-US" dirty="0"/>
              <a:t>5. Filtered yearly salaries only</a:t>
            </a:r>
            <a:br>
              <a:rPr lang="en-US" dirty="0"/>
            </a:br>
            <a:r>
              <a:rPr lang="en-US" dirty="0"/>
              <a:t>6. Performed Pandas analysis</a:t>
            </a:r>
            <a:br>
              <a:rPr lang="en-US" dirty="0"/>
            </a:br>
            <a:r>
              <a:rPr lang="en-US" dirty="0"/>
              <a:t>7. Created visualizations using Matplotlib</a:t>
            </a:r>
            <a:br>
              <a:rPr lang="en-US" dirty="0"/>
            </a:br>
            <a:r>
              <a:rPr lang="en-US" dirty="0"/>
              <a:t>8. Identified salary trends and insights</a:t>
            </a:r>
          </a:p>
        </p:txBody>
      </p:sp>
    </p:spTree>
    <p:extLst>
      <p:ext uri="{BB962C8B-B14F-4D97-AF65-F5344CB8AC3E}">
        <p14:creationId xmlns:p14="http://schemas.microsoft.com/office/powerpoint/2010/main" val="2537901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00203-D4AA-0B6A-2F05-B34729F75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7F7DE-7A46-5BB8-3EF2-B4CD30A4F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281"/>
            <a:ext cx="4501896" cy="4667250"/>
          </a:xfrm>
        </p:spPr>
        <p:txBody>
          <a:bodyPr>
            <a:normAutofit/>
          </a:bodyPr>
          <a:lstStyle/>
          <a:p>
            <a:r>
              <a:rPr lang="en-US" dirty="0"/>
              <a:t>Used </a:t>
            </a:r>
            <a:r>
              <a:rPr lang="en-US" dirty="0" err="1"/>
              <a:t>groupby</a:t>
            </a:r>
            <a:r>
              <a:rPr lang="en-US" dirty="0"/>
              <a:t>()</a:t>
            </a:r>
          </a:p>
          <a:p>
            <a:r>
              <a:rPr lang="en-US" dirty="0"/>
              <a:t>Salary by experience level</a:t>
            </a:r>
          </a:p>
          <a:p>
            <a:pPr lvl="1"/>
            <a:r>
              <a:rPr lang="en-US" dirty="0"/>
              <a:t>Higher experience levels generally receive higher yearly salaries.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Salary by location</a:t>
            </a:r>
          </a:p>
          <a:p>
            <a:pPr lvl="1"/>
            <a:r>
              <a:rPr lang="en-US" dirty="0"/>
              <a:t>Certain locations consistently offer significantly higher salaries.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483CF9-9FDE-D6EF-124B-B21AA3E06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394" y="1161734"/>
            <a:ext cx="6392167" cy="2267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F71BCC-7FDF-5658-CDE1-F90382C61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394" y="3625450"/>
            <a:ext cx="6315956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96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6CD42-60CC-57D2-F14D-E584E169C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DEB791-53FE-42CB-52E4-B25CB9049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498" y="738972"/>
            <a:ext cx="4706007" cy="575390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DF9E9D-43CC-1CC6-2E17-BFCAFBE6A50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11124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Used </a:t>
            </a:r>
            <a:r>
              <a:rPr lang="en-US" dirty="0" err="1"/>
              <a:t>pivot_table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Compare salaries across both experience levels and work types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27720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289F6-AC69-BB24-76E2-5BBA97A9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Matplotlib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F5B04-3864-989B-D35D-DAD5EF6BC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4527" cy="4351338"/>
          </a:xfrm>
        </p:spPr>
        <p:txBody>
          <a:bodyPr>
            <a:normAutofit/>
          </a:bodyPr>
          <a:lstStyle/>
          <a:p>
            <a:r>
              <a:rPr lang="en-US" dirty="0"/>
              <a:t>Bar chart compares average yearly salaries across experience levels</a:t>
            </a:r>
          </a:p>
          <a:p>
            <a:r>
              <a:rPr lang="en-US" dirty="0"/>
              <a:t>Internship roles have the lowest average salaries</a:t>
            </a:r>
          </a:p>
          <a:p>
            <a:r>
              <a:rPr lang="en-US" dirty="0"/>
              <a:t>Director and Executive positions receive significantly higher salaries</a:t>
            </a:r>
          </a:p>
          <a:p>
            <a:r>
              <a:rPr lang="en-US" dirty="0"/>
              <a:t>Salary generally increases with experience and seniority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2B4F0B-D287-2A1A-558D-E55C7364D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7" y="523445"/>
            <a:ext cx="5020376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034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F91A-C6C0-5A93-B50E-59670CBC1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Matplotlib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19DCF-D516-5C4D-0679-3479DCC9C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87312" cy="4351338"/>
          </a:xfrm>
        </p:spPr>
        <p:txBody>
          <a:bodyPr/>
          <a:lstStyle/>
          <a:p>
            <a:r>
              <a:rPr lang="en-US" dirty="0"/>
              <a:t>Histogram shows the distribution of yearly salaries</a:t>
            </a:r>
          </a:p>
          <a:p>
            <a:r>
              <a:rPr lang="en-US" dirty="0"/>
              <a:t>Most salaries are concentrated within lower to middle salary ranges</a:t>
            </a:r>
          </a:p>
          <a:p>
            <a:r>
              <a:rPr lang="en-US" dirty="0"/>
              <a:t>Only a small number of jobs offer extremely high salaries</a:t>
            </a:r>
          </a:p>
          <a:p>
            <a:r>
              <a:rPr lang="en-US" dirty="0"/>
              <a:t>Added average salary reference line using </a:t>
            </a:r>
            <a:r>
              <a:rPr lang="en-US" dirty="0" err="1"/>
              <a:t>axvline</a:t>
            </a:r>
            <a:r>
              <a:rPr lang="en-US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3924E-2F1D-A665-1847-2C1597D11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216" y="603504"/>
            <a:ext cx="4319917" cy="606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58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790D-7193-F776-BFB7-9B3D5DBAD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Matplotlib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0A8B2-3296-DFFC-ED26-F1858D1BE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36920" cy="4351338"/>
          </a:xfrm>
        </p:spPr>
        <p:txBody>
          <a:bodyPr/>
          <a:lstStyle/>
          <a:p>
            <a:r>
              <a:rPr lang="en-US" dirty="0"/>
              <a:t>Boxplot compares salary distributions across work types</a:t>
            </a:r>
          </a:p>
          <a:p>
            <a:r>
              <a:rPr lang="en-US" dirty="0"/>
              <a:t>FULL_TIME roles show the widest salary range</a:t>
            </a:r>
          </a:p>
          <a:p>
            <a:r>
              <a:rPr lang="en-US" dirty="0"/>
              <a:t>CONTRACT jobs contain several high-paying outliers</a:t>
            </a:r>
          </a:p>
          <a:p>
            <a:r>
              <a:rPr lang="en-US" dirty="0"/>
              <a:t>PART_TIME and TEMPORARY jobs generally have lower median salaries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AE467E-349D-7714-DE56-817BF31CC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215" y="423443"/>
            <a:ext cx="4191585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90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8188-8074-E91B-BEB1-0D483C19D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from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1B56E-5324-078A-3AF0-0AD8912E1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Higher experience levels generally receive higher yearly salaries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Director and Executive positions earn significantly more than Internship and Entry-level roles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FULL_TIME jobs dominate the dataset and show the widest salary range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Most jobs offer salaries within the lower to middle salary ranges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small number of extremely high-paying jobs increase the overall average salary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Geographic location significantly affects salary levels</a:t>
            </a:r>
          </a:p>
        </p:txBody>
      </p:sp>
    </p:spTree>
    <p:extLst>
      <p:ext uri="{BB962C8B-B14F-4D97-AF65-F5344CB8AC3E}">
        <p14:creationId xmlns:p14="http://schemas.microsoft.com/office/powerpoint/2010/main" val="298454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98FA453B518E43A8A123D7C4824422" ma:contentTypeVersion="5" ma:contentTypeDescription="Create a new document." ma:contentTypeScope="" ma:versionID="bc9c8e2657d560bc3cae37416954f69e">
  <xsd:schema xmlns:xsd="http://www.w3.org/2001/XMLSchema" xmlns:xs="http://www.w3.org/2001/XMLSchema" xmlns:p="http://schemas.microsoft.com/office/2006/metadata/properties" xmlns:ns3="d724823f-18e3-44a3-89a9-c89091800a5b" targetNamespace="http://schemas.microsoft.com/office/2006/metadata/properties" ma:root="true" ma:fieldsID="2c8b18c356401fc164c1e7c533d99b75" ns3:_="">
    <xsd:import namespace="d724823f-18e3-44a3-89a9-c89091800a5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24823f-18e3-44a3-89a9-c89091800a5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724823f-18e3-44a3-89a9-c89091800a5b" xsi:nil="true"/>
  </documentManagement>
</p:properties>
</file>

<file path=customXml/itemProps1.xml><?xml version="1.0" encoding="utf-8"?>
<ds:datastoreItem xmlns:ds="http://schemas.openxmlformats.org/officeDocument/2006/customXml" ds:itemID="{F0EF21F2-E99D-412F-99B9-91AECD8761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F126D8-2CB5-4445-8D72-1108D33003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24823f-18e3-44a3-89a9-c89091800a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464B850-96B6-4356-A77C-4D42C6B3DDBE}">
  <ds:schemaRefs>
    <ds:schemaRef ds:uri="http://schemas.microsoft.com/office/2006/documentManagement/types"/>
    <ds:schemaRef ds:uri="http://purl.org/dc/elements/1.1/"/>
    <ds:schemaRef ds:uri="d724823f-18e3-44a3-89a9-c89091800a5b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325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ST1510 Programming for Data Analytics CA1</vt:lpstr>
      <vt:lpstr>Project Overview</vt:lpstr>
      <vt:lpstr>Summary of Analysis Steps</vt:lpstr>
      <vt:lpstr>Pandas Analysis</vt:lpstr>
      <vt:lpstr>Pandas Analysis</vt:lpstr>
      <vt:lpstr>Matplotlib Analysis</vt:lpstr>
      <vt:lpstr>Matplotlib Analysis</vt:lpstr>
      <vt:lpstr>Matplotlib Analysis</vt:lpstr>
      <vt:lpstr>Key Insights from Data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KONG CHENG SHENG</dc:creator>
  <cp:lastModifiedBy>KONG CHENG SHENG</cp:lastModifiedBy>
  <cp:revision>2</cp:revision>
  <dcterms:created xsi:type="dcterms:W3CDTF">2026-05-24T13:30:09Z</dcterms:created>
  <dcterms:modified xsi:type="dcterms:W3CDTF">2026-05-24T17:42:34Z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0x0101000898FA453B518E43A8A123D7C4824422</vt:lpwstr>
  </property>
</Properties>
</file>